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 Scan</c:v>
                </c:pt>
              </c:strCache>
            </c:strRef>
          </c:tx>
          <c:spPr>
            <a:solidFill>
              <a:srgbClr val="3E5A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1K words</c:v>
                  </c:pt>
                  <c:pt idx="1">
                    <c:v>10K words</c:v>
                  </c:pt>
                  <c:pt idx="2">
                    <c:v>100K words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78</c:v>
                </c:pt>
                <c:pt idx="2">
                  <c:v>760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Dictionary-Based (Trie / Aho–Corasick)</c:v>
                </c:pt>
              </c:strCache>
            </c:strRef>
          </c:tx>
          <c:spPr>
            <a:solidFill>
              <a:srgbClr val="3AF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1K words</c:v>
                  </c:pt>
                  <c:pt idx="1">
                    <c:v>10K words</c:v>
                  </c:pt>
                  <c:pt idx="2">
                    <c:v>100K words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3B2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9C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3B2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E3B2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C4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712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A9C4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712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4.png"/><Relationship Id="rId8" Type="http://schemas.openxmlformats.org/officeDocument/2006/relationships/image" Target="../media/image-3-5.png"/><Relationship Id="rId9" Type="http://schemas.openxmlformats.org/officeDocument/2006/relationships/image" Target="../media/image-3-9.png"/><Relationship Id="rId10" Type="http://schemas.openxmlformats.org/officeDocument/2006/relationships/image" Target="../media/image-3-4.png"/><Relationship Id="rId11" Type="http://schemas.openxmlformats.org/officeDocument/2006/relationships/image" Target="../media/image-3-5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3.png"/><Relationship Id="rId7" Type="http://schemas.openxmlformats.org/officeDocument/2006/relationships/image" Target="../media/image-4-4.png"/><Relationship Id="rId8" Type="http://schemas.openxmlformats.org/officeDocument/2006/relationships/image" Target="../media/image-4-8.png"/><Relationship Id="rId9" Type="http://schemas.openxmlformats.org/officeDocument/2006/relationships/image" Target="../media/image-4-3.png"/><Relationship Id="rId10" Type="http://schemas.openxmlformats.org/officeDocument/2006/relationships/image" Target="../media/image-4-4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4.png"/><Relationship Id="rId14" Type="http://schemas.openxmlformats.org/officeDocument/2006/relationships/image" Target="../media/image-4-14.png"/><Relationship Id="rId15" Type="http://schemas.openxmlformats.org/officeDocument/2006/relationships/image" Target="../media/image-4-12.png"/><Relationship Id="rId16" Type="http://schemas.openxmlformats.org/officeDocument/2006/relationships/image" Target="../media/image-4-4.png"/><Relationship Id="rId17" Type="http://schemas.openxmlformats.org/officeDocument/2006/relationships/image" Target="../media/image-4-17.png"/><Relationship Id="rId18" Type="http://schemas.openxmlformats.org/officeDocument/2006/relationships/image" Target="../media/image-4-12.png"/><Relationship Id="rId19" Type="http://schemas.openxmlformats.org/officeDocument/2006/relationships/image" Target="../media/image-4-4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3.png"/><Relationship Id="rId8" Type="http://schemas.openxmlformats.org/officeDocument/2006/relationships/image" Target="../media/image-5-4.png"/><Relationship Id="rId9" Type="http://schemas.openxmlformats.org/officeDocument/2006/relationships/image" Target="../media/image-5-9.png"/><Relationship Id="rId10" Type="http://schemas.openxmlformats.org/officeDocument/2006/relationships/image" Target="../media/image-5-6.png"/><Relationship Id="rId11" Type="http://schemas.openxmlformats.org/officeDocument/2006/relationships/image" Target="../media/image-5-3.png"/><Relationship Id="rId12" Type="http://schemas.openxmlformats.org/officeDocument/2006/relationships/image" Target="../media/image-5-4.png"/><Relationship Id="rId13" Type="http://schemas.openxmlformats.org/officeDocument/2006/relationships/image" Target="../media/image-5-13.png"/><Relationship Id="rId14" Type="http://schemas.openxmlformats.org/officeDocument/2006/relationships/image" Target="../media/image-5-3.png"/><Relationship Id="rId15" Type="http://schemas.openxmlformats.org/officeDocument/2006/relationships/image" Target="../media/image-5-4.png"/><Relationship Id="rId16" Type="http://schemas.openxmlformats.org/officeDocument/2006/relationships/image" Target="../media/image-5-16.png"/><Relationship Id="rId17" Type="http://schemas.openxmlformats.org/officeDocument/2006/relationships/image" Target="../media/image-5-6.png"/><Relationship Id="rId18" Type="http://schemas.openxmlformats.org/officeDocument/2006/relationships/image" Target="../media/image-5-3.png"/><Relationship Id="rId19" Type="http://schemas.openxmlformats.org/officeDocument/2006/relationships/image" Target="../media/image-5-4.png"/><Relationship Id="rId20" Type="http://schemas.openxmlformats.org/officeDocument/2006/relationships/image" Target="../media/image-5-20.png"/><Relationship Id="rId21" Type="http://schemas.openxmlformats.org/officeDocument/2006/relationships/image" Target="../media/image-5-6.png"/><Relationship Id="rId22" Type="http://schemas.openxmlformats.org/officeDocument/2006/relationships/image" Target="../media/image-5-3.png"/><Relationship Id="rId23" Type="http://schemas.openxmlformats.org/officeDocument/2006/relationships/image" Target="../media/image-5-4.png"/><Relationship Id="rId24" Type="http://schemas.openxmlformats.org/officeDocument/2006/relationships/image" Target="../media/image-5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4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3.png"/><Relationship Id="rId7" Type="http://schemas.openxmlformats.org/officeDocument/2006/relationships/image" Target="../media/image-8-4.png"/><Relationship Id="rId8" Type="http://schemas.openxmlformats.org/officeDocument/2006/relationships/image" Target="../media/image-8-8.png"/><Relationship Id="rId9" Type="http://schemas.openxmlformats.org/officeDocument/2006/relationships/image" Target="../media/image-8-3.png"/><Relationship Id="rId10" Type="http://schemas.openxmlformats.org/officeDocument/2006/relationships/image" Target="../media/image-8-4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4.png"/><Relationship Id="rId14" Type="http://schemas.openxmlformats.org/officeDocument/2006/relationships/image" Target="../media/image-8-14.png"/><Relationship Id="rId15" Type="http://schemas.openxmlformats.org/officeDocument/2006/relationships/image" Target="../media/image-8-12.png"/><Relationship Id="rId16" Type="http://schemas.openxmlformats.org/officeDocument/2006/relationships/image" Target="../media/image-8-4.png"/><Relationship Id="rId17" Type="http://schemas.openxmlformats.org/officeDocument/2006/relationships/image" Target="../media/image-8-17.png"/><Relationship Id="rId18" Type="http://schemas.openxmlformats.org/officeDocument/2006/relationships/image" Target="../media/image-8-12.png"/><Relationship Id="rId19" Type="http://schemas.openxmlformats.org/officeDocument/2006/relationships/image" Target="../media/image-8-4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3.png"/><Relationship Id="rId6" Type="http://schemas.openxmlformats.org/officeDocument/2006/relationships/image" Target="../media/image-9-4.png"/><Relationship Id="rId7" Type="http://schemas.openxmlformats.org/officeDocument/2006/relationships/image" Target="../media/image-9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image" Target="../media/image-10-5.png"/><Relationship Id="rId7" Type="http://schemas.openxmlformats.org/officeDocument/2006/relationships/image" Target="../media/image-10-6.png"/><Relationship Id="rId8" Type="http://schemas.openxmlformats.org/officeDocument/2006/relationships/image" Target="../media/image-10-4.png"/><Relationship Id="rId9" Type="http://schemas.openxmlformats.org/officeDocument/2006/relationships/image" Target="../media/image-10-5.png"/><Relationship Id="rId10" Type="http://schemas.openxmlformats.org/officeDocument/2006/relationships/image" Target="../media/image-10-9.png"/><Relationship Id="rId11" Type="http://schemas.openxmlformats.org/officeDocument/2006/relationships/image" Target="../media/image-10-4.png"/><Relationship Id="rId12" Type="http://schemas.openxmlformats.org/officeDocument/2006/relationships/image" Target="../media/image-10-5.png"/><Relationship Id="rId13" Type="http://schemas.openxmlformats.org/officeDocument/2006/relationships/image" Target="../media/image-10-12.png"/><Relationship Id="rId14" Type="http://schemas.openxmlformats.org/officeDocument/2006/relationships/image" Target="../media/image-10-4.png"/><Relationship Id="rId15" Type="http://schemas.openxmlformats.org/officeDocument/2006/relationships/image" Target="../media/image-10-5.png"/><Relationship Id="rId16" Type="http://schemas.openxmlformats.org/officeDocument/2006/relationships/image" Target="../media/image-10-15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3.png"/><Relationship Id="rId7" Type="http://schemas.openxmlformats.org/officeDocument/2006/relationships/image" Target="../media/image-12-4.png"/><Relationship Id="rId8" Type="http://schemas.openxmlformats.org/officeDocument/2006/relationships/image" Target="../media/image-12-8.png"/><Relationship Id="rId9" Type="http://schemas.openxmlformats.org/officeDocument/2006/relationships/image" Target="../media/image-12-3.png"/><Relationship Id="rId10" Type="http://schemas.openxmlformats.org/officeDocument/2006/relationships/image" Target="../media/image-12-4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3.png"/><Relationship Id="rId13" Type="http://schemas.openxmlformats.org/officeDocument/2006/relationships/image" Target="../media/image-12-4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3.png"/><Relationship Id="rId16" Type="http://schemas.openxmlformats.org/officeDocument/2006/relationships/image" Target="../media/image-12-4.png"/><Relationship Id="rId17" Type="http://schemas.openxmlformats.org/officeDocument/2006/relationships/image" Target="../media/image-1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SUBMISSION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STRUCTURES &amp; ALGORITHMS — 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38912" y="155448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spc="5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DICTIONARY-BASED
</a:t>
            </a:r>
            <a:pPr indent="0" marL="0">
              <a:lnSpc>
                <a:spcPts val="4400"/>
              </a:lnSpc>
              <a:buNone/>
            </a:pPr>
            <a:r>
              <a:rPr lang="en-US" sz="4000" b="1" spc="50" kern="0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MISSPELLED WORD
</a:t>
            </a:r>
            <a:pPr indent="0" marL="0">
              <a:lnSpc>
                <a:spcPts val="4400"/>
              </a:lnSpc>
              <a:buNone/>
            </a:pPr>
            <a:r>
              <a:rPr lang="en-US" sz="4000" b="1" spc="5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 →  Keyword (Misspelled Word):  a ready-to-use dictionary-driven spellchecking report engine</a:t>
            </a:r>
            <a:endParaRPr lang="en-US" sz="1400" dirty="0"/>
          </a:p>
        </p:txBody>
      </p:sp>
      <p:pic>
        <p:nvPicPr>
          <p:cNvPr id="8" name="Image 1" descr="/home/claude/assets/illus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502920"/>
            <a:ext cx="3566160" cy="3566160"/>
          </a:xfrm>
          <a:prstGeom prst="rect">
            <a:avLst/>
          </a:prstGeom>
        </p:spPr>
      </p:pic>
      <p:pic>
        <p:nvPicPr>
          <p:cNvPr id="9" name="Image 2" descr="/home/claude/assets/card_tl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26280"/>
            <a:ext cx="7315200" cy="1965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777240" y="5010912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Hansika Reddy Gunapati   —   2520030237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 Hasini Reddy   —   2520030048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Nissy   —   2520030064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029200" y="5010912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7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Number:  </a:t>
            </a:r>
            <a:pPr indent="0" marL="0">
              <a:lnSpc>
                <a:spcPts val="2600"/>
              </a:lnSpc>
              <a:buNone/>
            </a:pPr>
            <a:r>
              <a:rPr lang="en-US" sz="1300" b="1" dirty="0">
                <a:solidFill>
                  <a:srgbClr val="3A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
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7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pPr indent="0" marL="0">
              <a:lnSpc>
                <a:spcPts val="2600"/>
              </a:lnSpc>
              <a:buNone/>
            </a:pPr>
            <a:r>
              <a:rPr lang="en-US" sz="1300" b="1" dirty="0">
                <a:solidFill>
                  <a:srgbClr val="3A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
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7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</a:t>
            </a:r>
            <a:pPr indent="0" marL="0">
              <a:lnSpc>
                <a:spcPts val="2600"/>
              </a:lnSpc>
              <a:buNone/>
            </a:pPr>
            <a:r>
              <a:rPr lang="en-US" sz="1300" b="1" dirty="0">
                <a:solidFill>
                  <a:srgbClr val="3A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S. Madhavi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778240" y="6172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www.klh.edu.in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//  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SECTION 7</a:t>
            </a:r>
            <a:endParaRPr lang="en-US" sz="1000" dirty="0"/>
          </a:p>
        </p:txBody>
      </p:sp>
      <p:pic>
        <p:nvPicPr>
          <p:cNvPr id="5" name="Image 1" descr="/home/claude/assets/tag_chi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29184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91440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endParaRPr lang="en-US" sz="2200" dirty="0"/>
          </a:p>
        </p:txBody>
      </p:sp>
      <p:pic>
        <p:nvPicPr>
          <p:cNvPr id="7" name="Image 2" descr="/home/claude/assets/card_tl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5989320" cy="41605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2011680"/>
            <a:ext cx="539496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error-free text is essential for readability, downstream NLP pipelines, and large-scale document processing, yet manual proofreading does not scale to modern text volumes. This project designs and implements a Dictionary-Based Misspelled Word Detection System that compares input text against a predefined dictionary using efficient string-matching data structures — Trie, Aho–Corasick automaton, and suffix arrays — to locate misspelled words with near-linear-time lookups. Detected errors are ranked and corrected using edit-distance and phonetic algorithms, then consolidated into a structured, ready-to-use report. The system is built to handle large text datasets and Unicode / multilingual content, with performance benchmarked against naive scanning to quantify the efficiency gained from dictionary-based indexing.</a:t>
            </a:r>
            <a:endParaRPr lang="en-US" sz="1300" dirty="0"/>
          </a:p>
        </p:txBody>
      </p:sp>
      <p:pic>
        <p:nvPicPr>
          <p:cNvPr id="9" name="Image 3" descr="/home/claude/assets/card_tr_b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783080"/>
            <a:ext cx="5074920" cy="41605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951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6995160" y="2331720"/>
            <a:ext cx="448056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dictionary lookup for misspelled-word detection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Trie, Aho–Corasick, or suffix arrays for string matching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misspelled words across large text datasets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suggested corrections via edit distance / phonetics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reports summarizing errors &amp; fixes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Unicode characters and multilingual dictionaries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performance against naive scanning methods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|  DICTIONARY-BASED MISSPELLED WORD DETECTION SYSTEM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//  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SECTION 7</a:t>
            </a:r>
            <a:endParaRPr lang="en-US" sz="1000" dirty="0"/>
          </a:p>
        </p:txBody>
      </p:sp>
      <p:pic>
        <p:nvPicPr>
          <p:cNvPr id="5" name="Image 1" descr="/home/claude/assets/tag_chi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57200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91440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1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2000" dirty="0"/>
          </a:p>
        </p:txBody>
      </p:sp>
      <p:pic>
        <p:nvPicPr>
          <p:cNvPr id="7" name="Image 2" descr="/home/claude/assets/card_tl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6720840" cy="41605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777240" y="2286000"/>
            <a:ext cx="6080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words in documents, log files, or user input cause misinterpretation, reduced readability, and downstream processing errors. Traditional spellcheckers rely on naïve scanning or limited word lists — too slow and rigid for large, real-world datasets that must also handle Unicode text and support text-analytics or NLP workloads.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777240" y="3840480"/>
            <a:ext cx="6080760" cy="0"/>
          </a:xfrm>
          <a:prstGeom prst="line">
            <a:avLst/>
          </a:prstGeom>
          <a:noFill/>
          <a:ln w="12700">
            <a:solidFill>
              <a:srgbClr val="1E3B2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77240" y="4315968"/>
            <a:ext cx="6080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A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dictionary-based application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identifies misspelled words using efficient string-matching algorithms — comparing input text against a predefined dictionary, locating errors, suggesting corrections, and generating structured reports.</a:t>
            </a:r>
            <a:endParaRPr lang="en-US" sz="1250" dirty="0"/>
          </a:p>
        </p:txBody>
      </p:sp>
      <p:pic>
        <p:nvPicPr>
          <p:cNvPr id="13" name="Image 3" descr="/home/claude/assets/card_tr_b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783080"/>
            <a:ext cx="4297680" cy="1298448"/>
          </a:xfrm>
          <a:prstGeom prst="rect">
            <a:avLst/>
          </a:prstGeom>
        </p:spPr>
      </p:pic>
      <p:pic>
        <p:nvPicPr>
          <p:cNvPr id="14" name="Image 4" descr="/home/claude/assets/badge_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984248"/>
            <a:ext cx="502920" cy="502920"/>
          </a:xfrm>
          <a:prstGeom prst="rect">
            <a:avLst/>
          </a:prstGeom>
        </p:spPr>
      </p:pic>
      <p:pic>
        <p:nvPicPr>
          <p:cNvPr id="15" name="Image 5" descr="/home/claude/assets/icon_search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6690" y="2109978"/>
            <a:ext cx="251460" cy="2514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366760" y="1929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 Text Datasets</a:t>
            </a:r>
            <a:endParaRPr lang="en-US" sz="1250" dirty="0"/>
          </a:p>
        </p:txBody>
      </p:sp>
      <p:sp>
        <p:nvSpPr>
          <p:cNvPr id="17" name="Text 9"/>
          <p:cNvSpPr/>
          <p:nvPr/>
        </p:nvSpPr>
        <p:spPr>
          <a:xfrm>
            <a:off x="8366760" y="22402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logs &amp; corpora at scale</a:t>
            </a:r>
            <a:endParaRPr lang="en-US" sz="1050" dirty="0"/>
          </a:p>
        </p:txBody>
      </p:sp>
      <p:pic>
        <p:nvPicPr>
          <p:cNvPr id="18" name="Image 6" descr="/home/claude/assets/card_tr_b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3227832"/>
            <a:ext cx="4297680" cy="1298448"/>
          </a:xfrm>
          <a:prstGeom prst="rect">
            <a:avLst/>
          </a:prstGeom>
        </p:spPr>
      </p:pic>
      <p:pic>
        <p:nvPicPr>
          <p:cNvPr id="19" name="Image 7" descr="/home/claude/assets/badge_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3429000"/>
            <a:ext cx="502920" cy="502920"/>
          </a:xfrm>
          <a:prstGeom prst="rect">
            <a:avLst/>
          </a:prstGeom>
        </p:spPr>
      </p:pic>
      <p:pic>
        <p:nvPicPr>
          <p:cNvPr id="20" name="Image 8" descr="/home/claude/assets/icon_globe_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6690" y="3554730"/>
            <a:ext cx="251460" cy="25146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8366760" y="33741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Unicode Characters</a:t>
            </a:r>
            <a:endParaRPr lang="en-US" sz="1250" dirty="0"/>
          </a:p>
        </p:txBody>
      </p:sp>
      <p:sp>
        <p:nvSpPr>
          <p:cNvPr id="22" name="Text 11"/>
          <p:cNvSpPr/>
          <p:nvPr/>
        </p:nvSpPr>
        <p:spPr>
          <a:xfrm>
            <a:off x="8366760" y="368503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dictionary support</a:t>
            </a:r>
            <a:endParaRPr lang="en-US" sz="1050" dirty="0"/>
          </a:p>
        </p:txBody>
      </p:sp>
      <p:pic>
        <p:nvPicPr>
          <p:cNvPr id="23" name="Image 9" descr="/home/claude/assets/card_tr_b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2360" y="4672584"/>
            <a:ext cx="4297680" cy="1298448"/>
          </a:xfrm>
          <a:prstGeom prst="rect">
            <a:avLst/>
          </a:prstGeom>
        </p:spPr>
      </p:pic>
      <p:pic>
        <p:nvPicPr>
          <p:cNvPr id="24" name="Image 10" descr="/home/claude/assets/badge_circ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0960" y="4873752"/>
            <a:ext cx="502920" cy="502920"/>
          </a:xfrm>
          <a:prstGeom prst="rect">
            <a:avLst/>
          </a:prstGeom>
        </p:spPr>
      </p:pic>
      <p:pic>
        <p:nvPicPr>
          <p:cNvPr id="25" name="Image 11" descr="/home/claude/assets/icon_chart_gre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6690" y="4999482"/>
            <a:ext cx="251460" cy="25146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8366760" y="4818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Analytics &amp; NLP</a:t>
            </a:r>
            <a:endParaRPr lang="en-US" sz="1250" dirty="0"/>
          </a:p>
        </p:txBody>
      </p:sp>
      <p:sp>
        <p:nvSpPr>
          <p:cNvPr id="27" name="Text 13"/>
          <p:cNvSpPr/>
          <p:nvPr/>
        </p:nvSpPr>
        <p:spPr>
          <a:xfrm>
            <a:off x="8366760" y="5129784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downstream language pipelines</a:t>
            </a:r>
            <a:endParaRPr lang="en-US" sz="1050" dirty="0"/>
          </a:p>
        </p:txBody>
      </p:sp>
      <p:sp>
        <p:nvSpPr>
          <p:cNvPr id="28" name="Text 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|  DICTIONARY-BASED MISSPELLED WORD DETECTION SYSTEM</a:t>
            </a:r>
            <a:endParaRPr lang="en-US" sz="900" dirty="0"/>
          </a:p>
        </p:txBody>
      </p:sp>
      <p:sp>
        <p:nvSpPr>
          <p:cNvPr id="29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//  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SECTION 7</a:t>
            </a:r>
            <a:endParaRPr lang="en-US" sz="1000" dirty="0"/>
          </a:p>
        </p:txBody>
      </p:sp>
      <p:pic>
        <p:nvPicPr>
          <p:cNvPr id="5" name="Image 1" descr="/home/claude/assets/tag_chi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30352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91440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spc="1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FUNCTIONALITIES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457200" y="15361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 the system will deliver, mapped to the algorithms that implement them</a:t>
            </a:r>
            <a:endParaRPr lang="en-US" sz="1200" dirty="0"/>
          </a:p>
        </p:txBody>
      </p:sp>
      <p:pic>
        <p:nvPicPr>
          <p:cNvPr id="8" name="Image 2" descr="/home/claude/assets/card_tl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3611880" cy="1874520"/>
          </a:xfrm>
          <a:prstGeom prst="rect">
            <a:avLst/>
          </a:prstGeom>
        </p:spPr>
      </p:pic>
      <p:pic>
        <p:nvPicPr>
          <p:cNvPr id="9" name="Image 3" descr="/home/claude/assets/badge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185416"/>
            <a:ext cx="548640" cy="548640"/>
          </a:xfrm>
          <a:prstGeom prst="rect">
            <a:avLst/>
          </a:prstGeom>
        </p:spPr>
      </p:pic>
      <p:pic>
        <p:nvPicPr>
          <p:cNvPr id="10" name="Image 4" descr="/home/claude/assets/icon_boo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2322576"/>
            <a:ext cx="274320" cy="27432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13232" y="2862072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 Lookup</a:t>
            </a: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713232" y="3154680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fast, prefix-based dictionary lookup so every scanned token can be checked in near constant time.</a:t>
            </a:r>
            <a:endParaRPr lang="en-US" sz="1030" dirty="0"/>
          </a:p>
        </p:txBody>
      </p:sp>
      <p:pic>
        <p:nvPicPr>
          <p:cNvPr id="13" name="Image 5" descr="/home/claude/assets/card_tl_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112" y="1965960"/>
            <a:ext cx="3611880" cy="1874520"/>
          </a:xfrm>
          <a:prstGeom prst="rect">
            <a:avLst/>
          </a:prstGeom>
        </p:spPr>
      </p:pic>
      <p:pic>
        <p:nvPicPr>
          <p:cNvPr id="14" name="Image 6" descr="/home/claude/assets/badge_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2185416"/>
            <a:ext cx="548640" cy="548640"/>
          </a:xfrm>
          <a:prstGeom prst="rect">
            <a:avLst/>
          </a:prstGeom>
        </p:spPr>
      </p:pic>
      <p:pic>
        <p:nvPicPr>
          <p:cNvPr id="15" name="Image 7" descr="/home/claude/assets/icon_tree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8304" y="2322576"/>
            <a:ext cx="274320" cy="27432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4581144" y="2862072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Efficient Matching</a:t>
            </a:r>
            <a:endParaRPr lang="en-US" sz="1350" dirty="0"/>
          </a:p>
        </p:txBody>
      </p:sp>
      <p:sp>
        <p:nvSpPr>
          <p:cNvPr id="17" name="Text 7"/>
          <p:cNvSpPr/>
          <p:nvPr/>
        </p:nvSpPr>
        <p:spPr>
          <a:xfrm>
            <a:off x="4581144" y="3154680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Trie, Aho–Corasick automata, or suffix arrays for multi-pattern string matching across full documents.</a:t>
            </a:r>
            <a:endParaRPr lang="en-US" sz="1030" dirty="0"/>
          </a:p>
        </p:txBody>
      </p:sp>
      <p:pic>
        <p:nvPicPr>
          <p:cNvPr id="18" name="Image 8" descr="/home/claude/assets/card_tl_b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024" y="1965960"/>
            <a:ext cx="3611880" cy="1874520"/>
          </a:xfrm>
          <a:prstGeom prst="rect">
            <a:avLst/>
          </a:prstGeom>
        </p:spPr>
      </p:pic>
      <p:pic>
        <p:nvPicPr>
          <p:cNvPr id="19" name="Image 9" descr="/home/claude/assets/badge_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9056" y="2185416"/>
            <a:ext cx="548640" cy="548640"/>
          </a:xfrm>
          <a:prstGeom prst="rect">
            <a:avLst/>
          </a:prstGeom>
        </p:spPr>
      </p:pic>
      <p:pic>
        <p:nvPicPr>
          <p:cNvPr id="20" name="Image 10" descr="/home/claude/assets/icon_search_gre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6216" y="2322576"/>
            <a:ext cx="274320" cy="27432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8449056" y="2862072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Identification</a:t>
            </a:r>
            <a:endParaRPr lang="en-US" sz="1350" dirty="0"/>
          </a:p>
        </p:txBody>
      </p:sp>
      <p:sp>
        <p:nvSpPr>
          <p:cNvPr id="22" name="Text 9"/>
          <p:cNvSpPr/>
          <p:nvPr/>
        </p:nvSpPr>
        <p:spPr>
          <a:xfrm>
            <a:off x="8449056" y="3154680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misspelled words across large text datasets in a single linear pass over the input stream.</a:t>
            </a:r>
            <a:endParaRPr lang="en-US" sz="1030" dirty="0"/>
          </a:p>
        </p:txBody>
      </p:sp>
      <p:pic>
        <p:nvPicPr>
          <p:cNvPr id="23" name="Image 11" descr="/home/claude/assets/card_tr_b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096512"/>
            <a:ext cx="3611880" cy="1874520"/>
          </a:xfrm>
          <a:prstGeom prst="rect">
            <a:avLst/>
          </a:prstGeom>
        </p:spPr>
      </p:pic>
      <p:pic>
        <p:nvPicPr>
          <p:cNvPr id="24" name="Image 12" descr="/home/claude/assets/badge_circl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232" y="4315968"/>
            <a:ext cx="548640" cy="548640"/>
          </a:xfrm>
          <a:prstGeom prst="rect">
            <a:avLst/>
          </a:prstGeom>
        </p:spPr>
      </p:pic>
      <p:pic>
        <p:nvPicPr>
          <p:cNvPr id="25" name="Image 13" descr="/home/claude/assets/icon_spellcheck_gree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392" y="4453128"/>
            <a:ext cx="274320" cy="274320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713232" y="499262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Corrections</a:t>
            </a:r>
            <a:endParaRPr lang="en-US" sz="1350" dirty="0"/>
          </a:p>
        </p:txBody>
      </p:sp>
      <p:sp>
        <p:nvSpPr>
          <p:cNvPr id="27" name="Text 11"/>
          <p:cNvSpPr/>
          <p:nvPr/>
        </p:nvSpPr>
        <p:spPr>
          <a:xfrm>
            <a:off x="713232" y="528523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ranked corrections via Levenshtein edit distance and Soundex / Metaphone phonetic matching.</a:t>
            </a:r>
            <a:endParaRPr lang="en-US" sz="1030" dirty="0"/>
          </a:p>
        </p:txBody>
      </p:sp>
      <p:pic>
        <p:nvPicPr>
          <p:cNvPr id="28" name="Image 14" descr="/home/claude/assets/card_tr_bl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25112" y="4096512"/>
            <a:ext cx="3611880" cy="1874520"/>
          </a:xfrm>
          <a:prstGeom prst="rect">
            <a:avLst/>
          </a:prstGeom>
        </p:spPr>
      </p:pic>
      <p:pic>
        <p:nvPicPr>
          <p:cNvPr id="29" name="Image 15" descr="/home/claude/assets/badge_circ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81144" y="4315968"/>
            <a:ext cx="548640" cy="548640"/>
          </a:xfrm>
          <a:prstGeom prst="rect">
            <a:avLst/>
          </a:prstGeom>
        </p:spPr>
      </p:pic>
      <p:pic>
        <p:nvPicPr>
          <p:cNvPr id="30" name="Image 16" descr="/home/claude/assets/icon_report_green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18304" y="4453128"/>
            <a:ext cx="274320" cy="274320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4581144" y="499262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Generation</a:t>
            </a:r>
            <a:endParaRPr lang="en-US" sz="1350" dirty="0"/>
          </a:p>
        </p:txBody>
      </p:sp>
      <p:sp>
        <p:nvSpPr>
          <p:cNvPr id="32" name="Text 13"/>
          <p:cNvSpPr/>
          <p:nvPr/>
        </p:nvSpPr>
        <p:spPr>
          <a:xfrm>
            <a:off x="4581144" y="528523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structured, ready-to-use reports summarizing every detected error and applied fix.</a:t>
            </a:r>
            <a:endParaRPr lang="en-US" sz="1030" dirty="0"/>
          </a:p>
        </p:txBody>
      </p:sp>
      <p:pic>
        <p:nvPicPr>
          <p:cNvPr id="33" name="Image 17" descr="/home/claude/assets/card_tr_b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93024" y="4096512"/>
            <a:ext cx="3611880" cy="1874520"/>
          </a:xfrm>
          <a:prstGeom prst="rect">
            <a:avLst/>
          </a:prstGeom>
        </p:spPr>
      </p:pic>
      <p:pic>
        <p:nvPicPr>
          <p:cNvPr id="34" name="Image 18" descr="/home/claude/assets/badge_circl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49056" y="4315968"/>
            <a:ext cx="548640" cy="548640"/>
          </a:xfrm>
          <a:prstGeom prst="rect">
            <a:avLst/>
          </a:prstGeom>
        </p:spPr>
      </p:pic>
      <p:pic>
        <p:nvPicPr>
          <p:cNvPr id="35" name="Image 19" descr="/home/claude/assets/icon_globe_gree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86216" y="4453128"/>
            <a:ext cx="274320" cy="274320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8449056" y="499262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Unicode Support</a:t>
            </a:r>
            <a:endParaRPr lang="en-US" sz="1350" dirty="0"/>
          </a:p>
        </p:txBody>
      </p:sp>
      <p:sp>
        <p:nvSpPr>
          <p:cNvPr id="37" name="Text 15"/>
          <p:cNvSpPr/>
          <p:nvPr/>
        </p:nvSpPr>
        <p:spPr>
          <a:xfrm>
            <a:off x="8449056" y="5285232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UTF-8 Unicode characters and multilingual dictionaries for real-world, multi-language text.</a:t>
            </a:r>
            <a:endParaRPr lang="en-US" sz="1030" dirty="0"/>
          </a:p>
        </p:txBody>
      </p:sp>
      <p:sp>
        <p:nvSpPr>
          <p:cNvPr id="3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|  DICTIONARY-BASED MISSPELLED WORD DETECTION SYSTEM</a:t>
            </a:r>
            <a:endParaRPr lang="en-US" sz="900" dirty="0"/>
          </a:p>
        </p:txBody>
      </p:sp>
      <p:sp>
        <p:nvSpPr>
          <p:cNvPr id="39" name="Text 1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//  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SECTION 7</a:t>
            </a:r>
            <a:endParaRPr lang="en-US" sz="1000" dirty="0"/>
          </a:p>
        </p:txBody>
      </p:sp>
      <p:pic>
        <p:nvPicPr>
          <p:cNvPr id="5" name="Image 1" descr="/home/claude/assets/tag_chi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75488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91440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spc="1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457200" y="15361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processing pipeline, from raw text input to a ready-to-use error report</a:t>
            </a:r>
            <a:endParaRPr lang="en-US" sz="1200" dirty="0"/>
          </a:p>
        </p:txBody>
      </p:sp>
      <p:pic>
        <p:nvPicPr>
          <p:cNvPr id="8" name="Image 2" descr="/home/claude/assets/card_tl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3401568" cy="1600200"/>
          </a:xfrm>
          <a:prstGeom prst="rect">
            <a:avLst/>
          </a:prstGeom>
        </p:spPr>
      </p:pic>
      <p:pic>
        <p:nvPicPr>
          <p:cNvPr id="9" name="Image 3" descr="/home/claude/assets/badge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167128"/>
            <a:ext cx="475488" cy="475488"/>
          </a:xfrm>
          <a:prstGeom prst="rect">
            <a:avLst/>
          </a:prstGeom>
        </p:spPr>
      </p:pic>
      <p:pic>
        <p:nvPicPr>
          <p:cNvPr id="10" name="Image 4" descr="/home/claude/assets/icon_list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2286000"/>
            <a:ext cx="237744" cy="23774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76656" y="274320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Input Text</a:t>
            </a:r>
            <a:endParaRPr lang="en-US" sz="1250" dirty="0"/>
          </a:p>
        </p:txBody>
      </p:sp>
      <p:sp>
        <p:nvSpPr>
          <p:cNvPr id="12" name="Text 5"/>
          <p:cNvSpPr/>
          <p:nvPr/>
        </p:nvSpPr>
        <p:spPr>
          <a:xfrm>
            <a:off x="676656" y="301752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ingested from documents, log files, or direct user input.</a:t>
            </a:r>
            <a:endParaRPr lang="en-US" sz="1000" dirty="0"/>
          </a:p>
        </p:txBody>
      </p:sp>
      <p:pic>
        <p:nvPicPr>
          <p:cNvPr id="13" name="Image 5" descr="/home/claude/assets/icon_arrow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2638044"/>
            <a:ext cx="292608" cy="256032"/>
          </a:xfrm>
          <a:prstGeom prst="rect">
            <a:avLst/>
          </a:prstGeom>
        </p:spPr>
      </p:pic>
      <p:pic>
        <p:nvPicPr>
          <p:cNvPr id="14" name="Image 6" descr="/home/claude/assets/card_tl_b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2816" y="1965960"/>
            <a:ext cx="3401568" cy="1600200"/>
          </a:xfrm>
          <a:prstGeom prst="rect">
            <a:avLst/>
          </a:prstGeom>
        </p:spPr>
      </p:pic>
      <p:pic>
        <p:nvPicPr>
          <p:cNvPr id="15" name="Image 7" descr="/home/claude/assets/badge_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2272" y="2167128"/>
            <a:ext cx="475488" cy="475488"/>
          </a:xfrm>
          <a:prstGeom prst="rect">
            <a:avLst/>
          </a:prstGeom>
        </p:spPr>
      </p:pic>
      <p:pic>
        <p:nvPicPr>
          <p:cNvPr id="16" name="Image 8" descr="/home/claude/assets/icon_layers_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144" y="2286000"/>
            <a:ext cx="237744" cy="237744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4462272" y="274320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Tokenization</a:t>
            </a:r>
            <a:endParaRPr lang="en-US" sz="1250" dirty="0"/>
          </a:p>
        </p:txBody>
      </p:sp>
      <p:sp>
        <p:nvSpPr>
          <p:cNvPr id="18" name="Text 7"/>
          <p:cNvSpPr/>
          <p:nvPr/>
        </p:nvSpPr>
        <p:spPr>
          <a:xfrm>
            <a:off x="4462272" y="301752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 into words; Unicode-aware normalization is applied.</a:t>
            </a:r>
            <a:endParaRPr lang="en-US" sz="1000" dirty="0"/>
          </a:p>
        </p:txBody>
      </p:sp>
      <p:pic>
        <p:nvPicPr>
          <p:cNvPr id="19" name="Image 9" descr="/home/claude/assets/icon_arrow_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1816" y="2638044"/>
            <a:ext cx="292608" cy="256032"/>
          </a:xfrm>
          <a:prstGeom prst="rect">
            <a:avLst/>
          </a:prstGeom>
        </p:spPr>
      </p:pic>
      <p:pic>
        <p:nvPicPr>
          <p:cNvPr id="20" name="Image 10" descr="/home/claude/assets/card_tl_b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8432" y="1965960"/>
            <a:ext cx="3401568" cy="1600200"/>
          </a:xfrm>
          <a:prstGeom prst="rect">
            <a:avLst/>
          </a:prstGeom>
        </p:spPr>
      </p:pic>
      <p:pic>
        <p:nvPicPr>
          <p:cNvPr id="21" name="Image 11" descr="/home/claude/assets/badge_circl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7888" y="2167128"/>
            <a:ext cx="475488" cy="475488"/>
          </a:xfrm>
          <a:prstGeom prst="rect">
            <a:avLst/>
          </a:prstGeom>
        </p:spPr>
      </p:pic>
      <p:pic>
        <p:nvPicPr>
          <p:cNvPr id="22" name="Image 12" descr="/home/claude/assets/icon_tree_gree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6760" y="2286000"/>
            <a:ext cx="237744" cy="237744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8247888" y="274320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Dictionary Lookup</a:t>
            </a:r>
            <a:endParaRPr lang="en-US" sz="1250" dirty="0"/>
          </a:p>
        </p:txBody>
      </p:sp>
      <p:sp>
        <p:nvSpPr>
          <p:cNvPr id="24" name="Text 9"/>
          <p:cNvSpPr/>
          <p:nvPr/>
        </p:nvSpPr>
        <p:spPr>
          <a:xfrm>
            <a:off x="8247888" y="301752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/ Aho–Corasick scan matches tokens against the predefined dictionary.</a:t>
            </a:r>
            <a:endParaRPr lang="en-US" sz="1000" dirty="0"/>
          </a:p>
        </p:txBody>
      </p:sp>
      <p:pic>
        <p:nvPicPr>
          <p:cNvPr id="25" name="Image 13" descr="/home/claude/assets/card_tl_b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886200"/>
            <a:ext cx="3401568" cy="1600200"/>
          </a:xfrm>
          <a:prstGeom prst="rect">
            <a:avLst/>
          </a:prstGeom>
        </p:spPr>
      </p:pic>
      <p:pic>
        <p:nvPicPr>
          <p:cNvPr id="26" name="Image 14" descr="/home/claude/assets/badge_circl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656" y="4087368"/>
            <a:ext cx="475488" cy="475488"/>
          </a:xfrm>
          <a:prstGeom prst="rect">
            <a:avLst/>
          </a:prstGeom>
        </p:spPr>
      </p:pic>
      <p:pic>
        <p:nvPicPr>
          <p:cNvPr id="27" name="Image 15" descr="/home/claude/assets/icon_search_gree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528" y="4206240"/>
            <a:ext cx="237744" cy="237744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676656" y="466344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Error Detection</a:t>
            </a:r>
            <a:endParaRPr lang="en-US" sz="1250" dirty="0"/>
          </a:p>
        </p:txBody>
      </p:sp>
      <p:sp>
        <p:nvSpPr>
          <p:cNvPr id="29" name="Text 11"/>
          <p:cNvSpPr/>
          <p:nvPr/>
        </p:nvSpPr>
        <p:spPr>
          <a:xfrm>
            <a:off x="676656" y="493776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absent from the dictionary are flagged as misspelled.</a:t>
            </a:r>
            <a:endParaRPr lang="en-US" sz="1000" dirty="0"/>
          </a:p>
        </p:txBody>
      </p:sp>
      <p:pic>
        <p:nvPicPr>
          <p:cNvPr id="30" name="Image 16" descr="/home/claude/assets/icon_arrow_green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86200" y="4558284"/>
            <a:ext cx="292608" cy="256032"/>
          </a:xfrm>
          <a:prstGeom prst="rect">
            <a:avLst/>
          </a:prstGeom>
        </p:spPr>
      </p:pic>
      <p:pic>
        <p:nvPicPr>
          <p:cNvPr id="31" name="Image 17" descr="/home/claude/assets/card_tl_b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42816" y="3886200"/>
            <a:ext cx="3401568" cy="1600200"/>
          </a:xfrm>
          <a:prstGeom prst="rect">
            <a:avLst/>
          </a:prstGeom>
        </p:spPr>
      </p:pic>
      <p:pic>
        <p:nvPicPr>
          <p:cNvPr id="32" name="Image 18" descr="/home/claude/assets/badge_circl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62272" y="4087368"/>
            <a:ext cx="475488" cy="475488"/>
          </a:xfrm>
          <a:prstGeom prst="rect">
            <a:avLst/>
          </a:prstGeom>
        </p:spPr>
      </p:pic>
      <p:pic>
        <p:nvPicPr>
          <p:cNvPr id="33" name="Image 19" descr="/home/claude/assets/icon_scale_gree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81144" y="4206240"/>
            <a:ext cx="237744" cy="237744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4462272" y="466344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Correction Ranking</a:t>
            </a:r>
            <a:endParaRPr lang="en-US" sz="1250" dirty="0"/>
          </a:p>
        </p:txBody>
      </p:sp>
      <p:sp>
        <p:nvSpPr>
          <p:cNvPr id="35" name="Text 13"/>
          <p:cNvSpPr/>
          <p:nvPr/>
        </p:nvSpPr>
        <p:spPr>
          <a:xfrm>
            <a:off x="4462272" y="493776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Edit-distance + phonetic scoring generates ranked correction suggestions.</a:t>
            </a:r>
            <a:endParaRPr lang="en-US" sz="1000" dirty="0"/>
          </a:p>
        </p:txBody>
      </p:sp>
      <p:pic>
        <p:nvPicPr>
          <p:cNvPr id="36" name="Image 20" descr="/home/claude/assets/icon_arrow_green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71816" y="4558284"/>
            <a:ext cx="292608" cy="256032"/>
          </a:xfrm>
          <a:prstGeom prst="rect">
            <a:avLst/>
          </a:prstGeom>
        </p:spPr>
      </p:pic>
      <p:pic>
        <p:nvPicPr>
          <p:cNvPr id="37" name="Image 21" descr="/home/claude/assets/card_tl_b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28432" y="3886200"/>
            <a:ext cx="3401568" cy="1600200"/>
          </a:xfrm>
          <a:prstGeom prst="rect">
            <a:avLst/>
          </a:prstGeom>
        </p:spPr>
      </p:pic>
      <p:pic>
        <p:nvPicPr>
          <p:cNvPr id="38" name="Image 22" descr="/home/claude/assets/badge_circl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47888" y="4087368"/>
            <a:ext cx="475488" cy="475488"/>
          </a:xfrm>
          <a:prstGeom prst="rect">
            <a:avLst/>
          </a:prstGeom>
        </p:spPr>
      </p:pic>
      <p:pic>
        <p:nvPicPr>
          <p:cNvPr id="39" name="Image 23" descr="/home/claude/assets/icon_report_green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66760" y="4206240"/>
            <a:ext cx="237744" cy="237744"/>
          </a:xfrm>
          <a:prstGeom prst="rect">
            <a:avLst/>
          </a:prstGeom>
        </p:spPr>
      </p:pic>
      <p:sp>
        <p:nvSpPr>
          <p:cNvPr id="40" name="Text 14"/>
          <p:cNvSpPr/>
          <p:nvPr/>
        </p:nvSpPr>
        <p:spPr>
          <a:xfrm>
            <a:off x="8247888" y="466344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Report Generation</a:t>
            </a:r>
            <a:endParaRPr lang="en-US" sz="1250" dirty="0"/>
          </a:p>
        </p:txBody>
      </p:sp>
      <p:sp>
        <p:nvSpPr>
          <p:cNvPr id="41" name="Text 15"/>
          <p:cNvSpPr/>
          <p:nvPr/>
        </p:nvSpPr>
        <p:spPr>
          <a:xfrm>
            <a:off x="8247888" y="4937760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ready-to-use error &amp; correction report is produced.</a:t>
            </a:r>
            <a:endParaRPr lang="en-US" sz="1000" dirty="0"/>
          </a:p>
        </p:txBody>
      </p:sp>
      <p:sp>
        <p:nvSpPr>
          <p:cNvPr id="42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|  DICTIONARY-BASED MISSPELLED WORD DETECTION SYSTEM</a:t>
            </a:r>
            <a:endParaRPr lang="en-US" sz="900" dirty="0"/>
          </a:p>
        </p:txBody>
      </p:sp>
      <p:sp>
        <p:nvSpPr>
          <p:cNvPr id="43" name="Text 1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//  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SECTION 7</a:t>
            </a:r>
            <a:endParaRPr lang="en-US" sz="1000" dirty="0"/>
          </a:p>
        </p:txBody>
      </p:sp>
      <p:pic>
        <p:nvPicPr>
          <p:cNvPr id="5" name="Image 1" descr="/home/claude/assets/tag_chi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91440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ALGORITHMS &amp; COMPLEXITY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57200" y="15361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compared for dictionary lookup and pattern matching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92840" cy="283464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  <a:gridCol w="1965960"/>
                <a:gridCol w="1280160"/>
                <a:gridCol w="2651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71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Approach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71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 in the System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71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 Complexity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71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71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Why It's Used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F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Prefix-based dictionary storage &amp; word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O(L) per 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O(A·N)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prefix search; simple insert/delete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F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Aho–Corasick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Multi-pattern matching across full text, one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 + z)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every dictionary match in a single 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F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Suffix Array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Substring / partial-word pattern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per 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partial matches missed by exact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F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F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 through the word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× 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baseline used to benchmark speed-up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</a:tr>
            </a:tbl>
          </a:graphicData>
        </a:graphic>
      </p:graphicFrame>
      <p:pic>
        <p:nvPicPr>
          <p:cNvPr id="9" name="Image 2" descr="/home/claude/assets/card_tl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0"/>
            <a:ext cx="11292840" cy="9144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77240" y="5029200"/>
            <a:ext cx="10652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length of input text     </a:t>
            </a:r>
            <a:pPr indent="0" marL="0">
              <a:buNone/>
            </a:pPr>
            <a:r>
              <a:rPr lang="en-US" sz="1100" b="1" dirty="0">
                <a:solidFill>
                  <a:srgbClr val="3A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buNone/>
            </a:pPr>
            <a:r>
              <a:rPr lang="en-US" sz="11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number of dictionary words     </a:t>
            </a:r>
            <a:pPr indent="0" marL="0">
              <a:buNone/>
            </a:pPr>
            <a:r>
              <a:rPr lang="en-US" sz="1100" b="1" dirty="0">
                <a:solidFill>
                  <a:srgbClr val="3A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buNone/>
            </a:pPr>
            <a:r>
              <a:rPr lang="en-US" sz="11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length of a word     </a:t>
            </a:r>
            <a:pPr indent="0" marL="0">
              <a:buNone/>
            </a:pPr>
            <a:r>
              <a:rPr lang="en-US" sz="1100" b="1" dirty="0">
                <a:solidFill>
                  <a:srgbClr val="3A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indent="0" marL="0">
              <a:buNone/>
            </a:pPr>
            <a:r>
              <a:rPr lang="en-US" sz="11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number of matches found     </a:t>
            </a:r>
            <a:pPr indent="0" marL="0">
              <a:buNone/>
            </a:pPr>
            <a:r>
              <a:rPr lang="en-US" sz="1100" b="1" dirty="0">
                <a:solidFill>
                  <a:srgbClr val="3A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alphabet size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|  DICTIONARY-BASED MISSPELLED WORD DETECTION SYSTEM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//  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SECTION 7</a:t>
            </a:r>
            <a:endParaRPr lang="en-US" sz="1000" dirty="0"/>
          </a:p>
        </p:txBody>
      </p:sp>
      <p:pic>
        <p:nvPicPr>
          <p:cNvPr id="5" name="Image 1" descr="/home/claude/assets/tag_chi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76072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91440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spc="1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CORRECTION &amp; RANKING TECHNIQUES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457200" y="15361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techniques rank the best correction candidates</a:t>
            </a:r>
            <a:endParaRPr lang="en-US" sz="1200" dirty="0"/>
          </a:p>
        </p:txBody>
      </p:sp>
      <p:pic>
        <p:nvPicPr>
          <p:cNvPr id="8" name="Image 2" descr="/home/claude/assets/card_tl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5440680" cy="3977640"/>
          </a:xfrm>
          <a:prstGeom prst="rect">
            <a:avLst/>
          </a:prstGeom>
        </p:spPr>
      </p:pic>
      <p:pic>
        <p:nvPicPr>
          <p:cNvPr id="9" name="Image 3" descr="/home/claude/assets/badge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48840"/>
            <a:ext cx="502920" cy="502920"/>
          </a:xfrm>
          <a:prstGeom prst="rect">
            <a:avLst/>
          </a:prstGeom>
        </p:spPr>
      </p:pic>
      <p:pic>
        <p:nvPicPr>
          <p:cNvPr id="10" name="Image 4" descr="/home/claude/assets/icon_chart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2274570"/>
            <a:ext cx="251460" cy="25146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417320" y="2194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Levenshtein Edit Distance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777240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minimum insertions, deletions, or substitutions needed to turn a misspelled word into a valid dictionary word. Lower distance means a closer, more likely correction.</a:t>
            </a:r>
            <a:endParaRPr lang="en-US" sz="1150" dirty="0"/>
          </a:p>
        </p:txBody>
      </p:sp>
      <p:sp>
        <p:nvSpPr>
          <p:cNvPr id="13" name="Text 6"/>
          <p:cNvSpPr/>
          <p:nvPr/>
        </p:nvSpPr>
        <p:spPr>
          <a:xfrm>
            <a:off x="77724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— misspelled: “recieve”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931920"/>
          <a:ext cx="4800600" cy="173736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6002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712"/>
                          </a:solidFill>
                        </a:rPr>
                        <a:t>Candidate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712"/>
                          </a:solidFill>
                        </a:rPr>
                        <a:t>Edit Dist.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712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FF7A"/>
                          </a:solidFill>
                        </a:rPr>
                        <a:t>receive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</a:rPr>
                        <a:t>★ Best match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</a:rPr>
                        <a:t>relieve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9C4B8"/>
                          </a:solidFill>
                        </a:rPr>
                        <a:t>2nd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</a:rPr>
                        <a:t>deceive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9C4B8"/>
                          </a:solidFill>
                        </a:rPr>
                        <a:t>3rd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</a:tr>
            </a:tbl>
          </a:graphicData>
        </a:graphic>
      </p:graphicFrame>
      <p:pic>
        <p:nvPicPr>
          <p:cNvPr id="15" name="Image 5" descr="/home/claude/assets/card_tr_b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920240"/>
            <a:ext cx="5486400" cy="3977640"/>
          </a:xfrm>
          <a:prstGeom prst="rect">
            <a:avLst/>
          </a:prstGeom>
        </p:spPr>
      </p:pic>
      <p:pic>
        <p:nvPicPr>
          <p:cNvPr id="16" name="Image 6" descr="/home/claude/assets/badge_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2148840"/>
            <a:ext cx="502920" cy="502920"/>
          </a:xfrm>
          <a:prstGeom prst="rect">
            <a:avLst/>
          </a:prstGeom>
        </p:spPr>
      </p:pic>
      <p:pic>
        <p:nvPicPr>
          <p:cNvPr id="17" name="Image 7" descr="/home/claude/assets/icon_spellcheck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9410" y="2274570"/>
            <a:ext cx="251460" cy="25146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7223760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Phonetic Matching</a:t>
            </a:r>
            <a:endParaRPr lang="en-US" sz="1400" dirty="0"/>
          </a:p>
        </p:txBody>
      </p:sp>
      <p:sp>
        <p:nvSpPr>
          <p:cNvPr id="19" name="Text 8"/>
          <p:cNvSpPr/>
          <p:nvPr/>
        </p:nvSpPr>
        <p:spPr>
          <a:xfrm>
            <a:off x="6583680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like Soundex and Metaphone encode words by how they sound, catching phonetic misspellings that edit distance alone can miss — e.g. “fone” for “phone”.</a:t>
            </a:r>
            <a:endParaRPr lang="en-US" sz="1150" dirty="0"/>
          </a:p>
        </p:txBody>
      </p:sp>
      <p:sp>
        <p:nvSpPr>
          <p:cNvPr id="20" name="Text 9"/>
          <p:cNvSpPr/>
          <p:nvPr/>
        </p:nvSpPr>
        <p:spPr>
          <a:xfrm>
            <a:off x="658368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— Soundex encoding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931920"/>
          <a:ext cx="4846320" cy="1737360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712"/>
                          </a:solidFill>
                        </a:rPr>
                        <a:t>Word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712"/>
                          </a:solidFill>
                        </a:rPr>
                        <a:t>Soundex Code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</a:rPr>
                        <a:t>Smith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</a:rPr>
                        <a:t>S530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</a:rPr>
                        <a:t>Smyth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FF7"/>
                          </a:solidFill>
                        </a:rPr>
                        <a:t>S530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FF7A"/>
                          </a:solidFill>
                        </a:rPr>
                        <a:t>fone → phone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FF7A"/>
                          </a:solidFill>
                        </a:rPr>
                        <a:t>P500 (match)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</a:tr>
            </a:tbl>
          </a:graphicData>
        </a:graphic>
      </p:graphicFrame>
      <p:sp>
        <p:nvSpPr>
          <p:cNvPr id="22" name="Text 1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|  DICTIONARY-BASED MISSPELLED WORD DETECTION SYSTEM</a:t>
            </a:r>
            <a:endParaRPr lang="en-US" sz="900" dirty="0"/>
          </a:p>
        </p:txBody>
      </p:sp>
      <p:sp>
        <p:nvSpPr>
          <p:cNvPr id="23" name="Text 1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//  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SECTION 7</a:t>
            </a:r>
            <a:endParaRPr lang="en-US" sz="1000" dirty="0"/>
          </a:p>
        </p:txBody>
      </p:sp>
      <p:pic>
        <p:nvPicPr>
          <p:cNvPr id="5" name="Image 1" descr="/home/claude/assets/tag_chi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57200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91440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spc="1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&amp; TECHNOLOGIES</a:t>
            </a:r>
            <a:endParaRPr lang="en-US" sz="1900" dirty="0"/>
          </a:p>
        </p:txBody>
      </p:sp>
      <p:pic>
        <p:nvPicPr>
          <p:cNvPr id="7" name="Image 2" descr="/home/claude/assets/card_tl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3611880" cy="1417320"/>
          </a:xfrm>
          <a:prstGeom prst="rect">
            <a:avLst/>
          </a:prstGeom>
        </p:spPr>
      </p:pic>
      <p:pic>
        <p:nvPicPr>
          <p:cNvPr id="8" name="Image 3" descr="/home/claude/assets/badge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920240"/>
            <a:ext cx="457200" cy="457200"/>
          </a:xfrm>
          <a:prstGeom prst="rect">
            <a:avLst/>
          </a:prstGeom>
        </p:spPr>
      </p:pic>
      <p:pic>
        <p:nvPicPr>
          <p:cNvPr id="9" name="Image 4" descr="/home/claude/assets/icon_code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2034540"/>
            <a:ext cx="228600" cy="2286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234440" y="1901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</a:t>
            </a:r>
            <a:endParaRPr lang="en-US" sz="1150" dirty="0"/>
          </a:p>
        </p:txBody>
      </p:sp>
      <p:sp>
        <p:nvSpPr>
          <p:cNvPr id="11" name="Text 4"/>
          <p:cNvSpPr/>
          <p:nvPr/>
        </p:nvSpPr>
        <p:spPr>
          <a:xfrm>
            <a:off x="658368" y="2450592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Java for core logic and data-structure implementation.</a:t>
            </a:r>
            <a:endParaRPr lang="en-US" sz="1000" dirty="0"/>
          </a:p>
        </p:txBody>
      </p:sp>
      <p:pic>
        <p:nvPicPr>
          <p:cNvPr id="12" name="Image 5" descr="/home/claude/assets/card_tl_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112" y="1737360"/>
            <a:ext cx="3611880" cy="1417320"/>
          </a:xfrm>
          <a:prstGeom prst="rect">
            <a:avLst/>
          </a:prstGeom>
        </p:spPr>
      </p:pic>
      <p:pic>
        <p:nvPicPr>
          <p:cNvPr id="13" name="Image 6" descr="/home/claude/assets/badge_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1920240"/>
            <a:ext cx="457200" cy="457200"/>
          </a:xfrm>
          <a:prstGeom prst="rect">
            <a:avLst/>
          </a:prstGeom>
        </p:spPr>
      </p:pic>
      <p:pic>
        <p:nvPicPr>
          <p:cNvPr id="14" name="Image 7" descr="/home/claude/assets/icon_tree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0580" y="2034540"/>
            <a:ext cx="228600" cy="22860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5102352" y="1901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Algorithms &amp; Structures</a:t>
            </a:r>
            <a:endParaRPr lang="en-US" sz="1150" dirty="0"/>
          </a:p>
        </p:txBody>
      </p:sp>
      <p:sp>
        <p:nvSpPr>
          <p:cNvPr id="16" name="Text 6"/>
          <p:cNvSpPr/>
          <p:nvPr/>
        </p:nvSpPr>
        <p:spPr>
          <a:xfrm>
            <a:off x="4526280" y="2450592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Trie, Aho–Corasick automaton, Suffix Arrays, Levenshtein Edit Distance, Soundex / Metaphone.</a:t>
            </a:r>
            <a:endParaRPr lang="en-US" sz="1000" dirty="0"/>
          </a:p>
        </p:txBody>
      </p:sp>
      <p:pic>
        <p:nvPicPr>
          <p:cNvPr id="17" name="Image 8" descr="/home/claude/assets/card_tl_b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024" y="1737360"/>
            <a:ext cx="3611880" cy="1417320"/>
          </a:xfrm>
          <a:prstGeom prst="rect">
            <a:avLst/>
          </a:prstGeom>
        </p:spPr>
      </p:pic>
      <p:pic>
        <p:nvPicPr>
          <p:cNvPr id="18" name="Image 9" descr="/home/claude/assets/badge_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4192" y="1920240"/>
            <a:ext cx="457200" cy="457200"/>
          </a:xfrm>
          <a:prstGeom prst="rect">
            <a:avLst/>
          </a:prstGeom>
        </p:spPr>
      </p:pic>
      <p:pic>
        <p:nvPicPr>
          <p:cNvPr id="19" name="Image 10" descr="/home/claude/assets/icon_db_gre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8492" y="2034540"/>
            <a:ext cx="228600" cy="22860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8970264" y="1901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Storage</a:t>
            </a:r>
            <a:endParaRPr lang="en-US" sz="1150" dirty="0"/>
          </a:p>
        </p:txBody>
      </p:sp>
      <p:sp>
        <p:nvSpPr>
          <p:cNvPr id="21" name="Text 8"/>
          <p:cNvSpPr/>
          <p:nvPr/>
        </p:nvSpPr>
        <p:spPr>
          <a:xfrm>
            <a:off x="8394192" y="2450592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dictionary word-lists, CSV / text corpora for large-dataset testing.</a:t>
            </a:r>
            <a:endParaRPr lang="en-US" sz="1000" dirty="0"/>
          </a:p>
        </p:txBody>
      </p:sp>
      <p:pic>
        <p:nvPicPr>
          <p:cNvPr id="22" name="Image 11" descr="/home/claude/assets/card_tr_b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410712"/>
            <a:ext cx="3611880" cy="1417320"/>
          </a:xfrm>
          <a:prstGeom prst="rect">
            <a:avLst/>
          </a:prstGeom>
        </p:spPr>
      </p:pic>
      <p:pic>
        <p:nvPicPr>
          <p:cNvPr id="23" name="Image 12" descr="/home/claude/assets/badge_circl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3593592"/>
            <a:ext cx="457200" cy="457200"/>
          </a:xfrm>
          <a:prstGeom prst="rect">
            <a:avLst/>
          </a:prstGeom>
        </p:spPr>
      </p:pic>
      <p:pic>
        <p:nvPicPr>
          <p:cNvPr id="24" name="Image 13" descr="/home/claude/assets/icon_font_gree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2668" y="3707892"/>
            <a:ext cx="228600" cy="22860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1234440" y="357530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Unicode &amp; I/O</a:t>
            </a:r>
            <a:endParaRPr lang="en-US" sz="1150" dirty="0"/>
          </a:p>
        </p:txBody>
      </p:sp>
      <p:sp>
        <p:nvSpPr>
          <p:cNvPr id="26" name="Text 10"/>
          <p:cNvSpPr/>
          <p:nvPr/>
        </p:nvSpPr>
        <p:spPr>
          <a:xfrm>
            <a:off x="658368" y="4123944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text processing libraries for multilingual dictionary support.</a:t>
            </a:r>
            <a:endParaRPr lang="en-US" sz="1000" dirty="0"/>
          </a:p>
        </p:txBody>
      </p:sp>
      <p:pic>
        <p:nvPicPr>
          <p:cNvPr id="27" name="Image 14" descr="/home/claude/assets/card_tr_bl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25112" y="3410712"/>
            <a:ext cx="3611880" cy="1417320"/>
          </a:xfrm>
          <a:prstGeom prst="rect">
            <a:avLst/>
          </a:prstGeom>
        </p:spPr>
      </p:pic>
      <p:pic>
        <p:nvPicPr>
          <p:cNvPr id="28" name="Image 15" descr="/home/claude/assets/badge_circ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26280" y="3593592"/>
            <a:ext cx="457200" cy="457200"/>
          </a:xfrm>
          <a:prstGeom prst="rect">
            <a:avLst/>
          </a:prstGeom>
        </p:spPr>
      </p:pic>
      <p:pic>
        <p:nvPicPr>
          <p:cNvPr id="29" name="Image 16" descr="/home/claude/assets/icon_report_green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40580" y="3707892"/>
            <a:ext cx="228600" cy="228600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5102352" y="357530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31" name="Text 12"/>
          <p:cNvSpPr/>
          <p:nvPr/>
        </p:nvSpPr>
        <p:spPr>
          <a:xfrm>
            <a:off x="4526280" y="4123944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 generation (console / file output) summarizing detected errors.</a:t>
            </a:r>
            <a:endParaRPr lang="en-US" sz="1000" dirty="0"/>
          </a:p>
        </p:txBody>
      </p:sp>
      <p:pic>
        <p:nvPicPr>
          <p:cNvPr id="32" name="Image 17" descr="/home/claude/assets/card_tr_b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93024" y="3410712"/>
            <a:ext cx="3611880" cy="1417320"/>
          </a:xfrm>
          <a:prstGeom prst="rect">
            <a:avLst/>
          </a:prstGeom>
        </p:spPr>
      </p:pic>
      <p:pic>
        <p:nvPicPr>
          <p:cNvPr id="33" name="Image 18" descr="/home/claude/assets/badge_circl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94192" y="3593592"/>
            <a:ext cx="457200" cy="457200"/>
          </a:xfrm>
          <a:prstGeom prst="rect">
            <a:avLst/>
          </a:prstGeom>
        </p:spPr>
      </p:pic>
      <p:pic>
        <p:nvPicPr>
          <p:cNvPr id="34" name="Image 19" descr="/home/claude/assets/icon_gauge_gree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08492" y="3707892"/>
            <a:ext cx="228600" cy="228600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8970264" y="357530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Benchmarking</a:t>
            </a:r>
            <a:endParaRPr lang="en-US" sz="1150" dirty="0"/>
          </a:p>
        </p:txBody>
      </p:sp>
      <p:sp>
        <p:nvSpPr>
          <p:cNvPr id="36" name="Text 14"/>
          <p:cNvSpPr/>
          <p:nvPr/>
        </p:nvSpPr>
        <p:spPr>
          <a:xfrm>
            <a:off x="8394192" y="4123944"/>
            <a:ext cx="3209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profiling to compare dictionary-based vs. naïve scanning approaches.</a:t>
            </a:r>
            <a:endParaRPr lang="en-US" sz="1000" dirty="0"/>
          </a:p>
        </p:txBody>
      </p:sp>
      <p:pic>
        <p:nvPicPr>
          <p:cNvPr id="37" name="Image 20" descr="/home/claude/assets/illus_terminal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55480" y="4956048"/>
            <a:ext cx="2176272" cy="1499616"/>
          </a:xfrm>
          <a:prstGeom prst="rect">
            <a:avLst/>
          </a:prstGeom>
        </p:spPr>
      </p:pic>
      <p:sp>
        <p:nvSpPr>
          <p:cNvPr id="38" name="Text 1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|  DICTIONARY-BASED MISSPELLED WORD DETECTION SYSTEM</a:t>
            </a:r>
            <a:endParaRPr lang="en-US" sz="900" dirty="0"/>
          </a:p>
        </p:txBody>
      </p:sp>
      <p:sp>
        <p:nvSpPr>
          <p:cNvPr id="39" name="Text 1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//  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SECTION 7</a:t>
            </a:r>
            <a:endParaRPr lang="en-US" sz="1000" dirty="0"/>
          </a:p>
        </p:txBody>
      </p:sp>
      <p:pic>
        <p:nvPicPr>
          <p:cNvPr id="5" name="Image 1" descr="/home/claude/assets/tag_chi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84632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9144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spc="1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 ROADMAP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457200" y="15361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phases from dictionary setup to final benchmarking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31520" y="3703320"/>
            <a:ext cx="9628632" cy="0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1700784" y="3602736"/>
            <a:ext cx="201168" cy="201168"/>
          </a:xfrm>
          <a:prstGeom prst="ellipse">
            <a:avLst/>
          </a:prstGeom>
          <a:solidFill>
            <a:srgbClr val="0A1712"/>
          </a:solidFill>
          <a:ln w="25400">
            <a:solidFill>
              <a:srgbClr val="3AFF7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700784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pic>
        <p:nvPicPr>
          <p:cNvPr id="11" name="Image 2" descr="/home/claude/assets/card_tl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965960"/>
            <a:ext cx="1911096" cy="1417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2980" y="2075688"/>
            <a:ext cx="1636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1–2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982980" y="2350008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 &amp; Dataset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982980" y="2752344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scope; curate the predefined dictionary and multilingual test corpora.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1801368" y="3383280"/>
            <a:ext cx="0" cy="32004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840480" y="3602736"/>
            <a:ext cx="201168" cy="201168"/>
          </a:xfrm>
          <a:prstGeom prst="ellipse">
            <a:avLst/>
          </a:prstGeom>
          <a:solidFill>
            <a:srgbClr val="0A1712"/>
          </a:solidFill>
          <a:ln w="25400">
            <a:solidFill>
              <a:srgbClr val="3AFF7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840480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pic>
        <p:nvPicPr>
          <p:cNvPr id="18" name="Image 3" descr="/home/claude/assets/card_tr_b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516" y="4023360"/>
            <a:ext cx="1911096" cy="1417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122676" y="4133088"/>
            <a:ext cx="1636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3–4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3122676" y="4407408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Data Structures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122676" y="4809744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Trie and Aho–Corasick automaton for dictionary lookup.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941064" y="3703320"/>
            <a:ext cx="0" cy="32004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980176" y="3602736"/>
            <a:ext cx="201168" cy="201168"/>
          </a:xfrm>
          <a:prstGeom prst="ellipse">
            <a:avLst/>
          </a:prstGeom>
          <a:solidFill>
            <a:srgbClr val="0A1712"/>
          </a:solidFill>
          <a:ln w="25400">
            <a:solidFill>
              <a:srgbClr val="3AFF7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980176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pic>
        <p:nvPicPr>
          <p:cNvPr id="25" name="Image 4" descr="/home/claude/assets/card_tl_b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212" y="1965960"/>
            <a:ext cx="1911096" cy="1417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62372" y="2075688"/>
            <a:ext cx="1636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5–6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262372" y="2350008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Correction Engine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262372" y="2752344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edit-distance ranking and Soundex / Metaphone phonetic matching.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080760" y="3383280"/>
            <a:ext cx="0" cy="32004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19872" y="3602736"/>
            <a:ext cx="201168" cy="201168"/>
          </a:xfrm>
          <a:prstGeom prst="ellipse">
            <a:avLst/>
          </a:prstGeom>
          <a:solidFill>
            <a:srgbClr val="0A1712"/>
          </a:solidFill>
          <a:ln w="25400">
            <a:solidFill>
              <a:srgbClr val="3AFF7A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119872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pic>
        <p:nvPicPr>
          <p:cNvPr id="32" name="Image 5" descr="/home/claude/assets/card_tr_b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4908" y="4023360"/>
            <a:ext cx="1911096" cy="1417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02068" y="4133088"/>
            <a:ext cx="1636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7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7402068" y="4407408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Reporting &amp; Unicode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7402068" y="4809744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report generation module and Unicode / multilingual support.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8220456" y="3703320"/>
            <a:ext cx="0" cy="32004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0259568" y="3602736"/>
            <a:ext cx="201168" cy="201168"/>
          </a:xfrm>
          <a:prstGeom prst="ellipse">
            <a:avLst/>
          </a:prstGeom>
          <a:solidFill>
            <a:srgbClr val="0A1712"/>
          </a:solidFill>
          <a:ln w="25400">
            <a:solidFill>
              <a:srgbClr val="3AFF7A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10259568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pic>
        <p:nvPicPr>
          <p:cNvPr id="39" name="Image 6" descr="/home/claude/assets/card_tl_b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4604" y="1965960"/>
            <a:ext cx="1911096" cy="1417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541764" y="2075688"/>
            <a:ext cx="1636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8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9541764" y="2350008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&amp; Benchmarking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9541764" y="2752344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accuracy and benchmark against naive scanning for the final report.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10360152" y="3383280"/>
            <a:ext cx="0" cy="32004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|  DICTIONARY-BASED MISSPELLED WORD DETECTION SYSTEM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//  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SECTION 7</a:t>
            </a:r>
            <a:endParaRPr lang="en-US" sz="1000" dirty="0"/>
          </a:p>
        </p:txBody>
      </p:sp>
      <p:pic>
        <p:nvPicPr>
          <p:cNvPr id="5" name="Image 1" descr="/home/claude/assets/tag_chi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39496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91440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EVALUATION PLAN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57200" y="15361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dictionary-based approach will be measured against naive scanning</a:t>
            </a:r>
            <a:endParaRPr lang="en-US" sz="1200" dirty="0"/>
          </a:p>
        </p:txBody>
      </p:sp>
      <p:pic>
        <p:nvPicPr>
          <p:cNvPr id="8" name="Image 2" descr="/home/claude/assets/card_tl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6309360" cy="3977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7240" y="21031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Lookup Time Trend (illustrative, ms)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" y="2423160"/>
          <a:ext cx="5989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 5"/>
          <p:cNvSpPr/>
          <p:nvPr/>
        </p:nvSpPr>
        <p:spPr>
          <a:xfrm>
            <a:off x="777240" y="562356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illustrative targets to validate during testing, not final results.</a:t>
            </a:r>
            <a:endParaRPr lang="en-US" sz="900" dirty="0"/>
          </a:p>
        </p:txBody>
      </p:sp>
      <p:pic>
        <p:nvPicPr>
          <p:cNvPr id="12" name="Image 3" descr="/home/claude/assets/card_tr_b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920240"/>
            <a:ext cx="4800600" cy="914400"/>
          </a:xfrm>
          <a:prstGeom prst="rect">
            <a:avLst/>
          </a:prstGeom>
        </p:spPr>
      </p:pic>
      <p:pic>
        <p:nvPicPr>
          <p:cNvPr id="13" name="Image 4" descr="/home/claude/assets/badge_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2093976"/>
            <a:ext cx="548640" cy="548640"/>
          </a:xfrm>
          <a:prstGeom prst="rect">
            <a:avLst/>
          </a:prstGeom>
        </p:spPr>
      </p:pic>
      <p:pic>
        <p:nvPicPr>
          <p:cNvPr id="14" name="Image 5" descr="/home/claude/assets/icon_target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7768" y="2231136"/>
            <a:ext cx="274320" cy="27432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786384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Accuracy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7863840" y="23042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 of correctly flagged misspelled words.</a:t>
            </a:r>
            <a:endParaRPr lang="en-US" sz="1000" dirty="0"/>
          </a:p>
        </p:txBody>
      </p:sp>
      <p:pic>
        <p:nvPicPr>
          <p:cNvPr id="17" name="Image 6" descr="/home/claude/assets/card_tr_b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2944368"/>
            <a:ext cx="4800600" cy="914400"/>
          </a:xfrm>
          <a:prstGeom prst="rect">
            <a:avLst/>
          </a:prstGeom>
        </p:spPr>
      </p:pic>
      <p:pic>
        <p:nvPicPr>
          <p:cNvPr id="18" name="Image 7" descr="/home/claude/assets/badge_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0608" y="3118104"/>
            <a:ext cx="548640" cy="548640"/>
          </a:xfrm>
          <a:prstGeom prst="rect">
            <a:avLst/>
          </a:prstGeom>
        </p:spPr>
      </p:pic>
      <p:pic>
        <p:nvPicPr>
          <p:cNvPr id="19" name="Image 8" descr="/home/claude/assets/icon_percent_gre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7768" y="3255264"/>
            <a:ext cx="274320" cy="27432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7863840" y="3035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Correction Accuracy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7863840" y="332841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/ Top-3 hit rate of the ranked suggestion list.</a:t>
            </a:r>
            <a:endParaRPr lang="en-US" sz="1000" dirty="0"/>
          </a:p>
        </p:txBody>
      </p:sp>
      <p:pic>
        <p:nvPicPr>
          <p:cNvPr id="22" name="Image 9" descr="/home/claude/assets/card_tr_b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0" y="3968496"/>
            <a:ext cx="4800600" cy="914400"/>
          </a:xfrm>
          <a:prstGeom prst="rect">
            <a:avLst/>
          </a:prstGeom>
        </p:spPr>
      </p:pic>
      <p:pic>
        <p:nvPicPr>
          <p:cNvPr id="23" name="Image 10" descr="/home/claude/assets/badge_circl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50608" y="4142232"/>
            <a:ext cx="548640" cy="548640"/>
          </a:xfrm>
          <a:prstGeom prst="rect">
            <a:avLst/>
          </a:prstGeom>
        </p:spPr>
      </p:pic>
      <p:pic>
        <p:nvPicPr>
          <p:cNvPr id="24" name="Image 11" descr="/home/claude/assets/icon_clock_gree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87768" y="4279392"/>
            <a:ext cx="274320" cy="27432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7863840" y="4059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 Latency</a:t>
            </a:r>
            <a:endParaRPr lang="en-US" sz="1200" dirty="0"/>
          </a:p>
        </p:txBody>
      </p:sp>
      <p:sp>
        <p:nvSpPr>
          <p:cNvPr id="26" name="Text 11"/>
          <p:cNvSpPr/>
          <p:nvPr/>
        </p:nvSpPr>
        <p:spPr>
          <a:xfrm>
            <a:off x="7863840" y="435254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scan and flag words per dataset size.</a:t>
            </a:r>
            <a:endParaRPr lang="en-US" sz="1000" dirty="0"/>
          </a:p>
        </p:txBody>
      </p:sp>
      <p:pic>
        <p:nvPicPr>
          <p:cNvPr id="27" name="Image 12" descr="/home/claude/assets/card_tr_b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9440" y="4992624"/>
            <a:ext cx="4800600" cy="914400"/>
          </a:xfrm>
          <a:prstGeom prst="rect">
            <a:avLst/>
          </a:prstGeom>
        </p:spPr>
      </p:pic>
      <p:pic>
        <p:nvPicPr>
          <p:cNvPr id="28" name="Image 13" descr="/home/claude/assets/badge_circl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50608" y="5166360"/>
            <a:ext cx="548640" cy="548640"/>
          </a:xfrm>
          <a:prstGeom prst="rect">
            <a:avLst/>
          </a:prstGeom>
        </p:spPr>
      </p:pic>
      <p:pic>
        <p:nvPicPr>
          <p:cNvPr id="29" name="Image 14" descr="/home/claude/assets/icon_gauge_gree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7768" y="5303520"/>
            <a:ext cx="274320" cy="274320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7863840" y="50840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7863840" y="537667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trend as dictionary and input size grow.</a:t>
            </a:r>
            <a:endParaRPr lang="en-US" sz="1000" dirty="0"/>
          </a:p>
        </p:txBody>
      </p:sp>
      <p:sp>
        <p:nvSpPr>
          <p:cNvPr id="32" name="Text 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|  DICTIONARY-BASED MISSPELLED WORD DETECTION SYSTEM</a:t>
            </a:r>
            <a:endParaRPr lang="en-US" sz="900" dirty="0"/>
          </a:p>
        </p:txBody>
      </p:sp>
      <p:sp>
        <p:nvSpPr>
          <p:cNvPr id="33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//  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SECTION 7</a:t>
            </a:r>
            <a:endParaRPr lang="en-US" sz="1000" dirty="0"/>
          </a:p>
        </p:txBody>
      </p:sp>
      <p:pic>
        <p:nvPicPr>
          <p:cNvPr id="5" name="Image 1" descr="/home/claude/assets/tag_chi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93776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91440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spc="1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DETECTION REPORT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457200" y="15361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 of the structured, ready-to-use report the system generates for each run</a:t>
            </a:r>
            <a:endParaRPr lang="en-US" sz="1200" dirty="0"/>
          </a:p>
        </p:txBody>
      </p:sp>
      <p:pic>
        <p:nvPicPr>
          <p:cNvPr id="8" name="Image 2" descr="/home/claude/assets/illus_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5349240" cy="3685032"/>
          </a:xfrm>
          <a:prstGeom prst="rect">
            <a:avLst/>
          </a:prstGeom>
        </p:spPr>
      </p:pic>
      <p:pic>
        <p:nvPicPr>
          <p:cNvPr id="9" name="Image 3" descr="/home/claude/assets/card_tr_b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20240"/>
            <a:ext cx="5577840" cy="39776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9224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Detected Errors &amp; Ranked Corrections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468880"/>
          <a:ext cx="4937760" cy="233172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371600"/>
                <a:gridCol w="731520"/>
              </a:tblGrid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712"/>
                          </a:solidFill>
                        </a:rPr>
                        <a:t>Misspelled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712"/>
                          </a:solidFill>
                        </a:rPr>
                        <a:t>Suggested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712"/>
                          </a:solidFill>
                        </a:rPr>
                        <a:t>Method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A1712"/>
                          </a:solidFill>
                        </a:rPr>
                        <a:t>Score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FF7A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recieve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F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F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F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definately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F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acheive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F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510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F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2FF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84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A14"/>
                    </a:solidFill>
                  </a:tcPr>
                </a:tc>
              </a:tr>
            </a:tbl>
          </a:graphicData>
        </a:graphic>
      </p:graphicFrame>
      <p:sp>
        <p:nvSpPr>
          <p:cNvPr id="12" name="Text 5"/>
          <p:cNvSpPr/>
          <p:nvPr/>
        </p:nvSpPr>
        <p:spPr>
          <a:xfrm>
            <a:off x="6492240" y="49834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A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 — 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found: 37     Accuracy: 96.4%     Report written to output/report.json</a:t>
            </a:r>
            <a:endParaRPr lang="en-US" sz="1050" dirty="0"/>
          </a:p>
        </p:txBody>
      </p:sp>
      <p:sp>
        <p:nvSpPr>
          <p:cNvPr id="13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|  DICTIONARY-BASED MISSPELLED WORD DETECTION SYSTEM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//  KLH EDUCATION FOUNDATION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8076895" y="292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SECTION 7</a:t>
            </a:r>
            <a:endParaRPr lang="en-US" sz="1000" dirty="0"/>
          </a:p>
        </p:txBody>
      </p:sp>
      <p:pic>
        <p:nvPicPr>
          <p:cNvPr id="5" name="Image 1" descr="/home/claude/assets/tag_chip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02336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91440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1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OUTCOME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457200" y="15361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completed system will demonstrate</a:t>
            </a:r>
            <a:endParaRPr lang="en-US" sz="1200" dirty="0"/>
          </a:p>
        </p:txBody>
      </p:sp>
      <p:pic>
        <p:nvPicPr>
          <p:cNvPr id="8" name="Image 2" descr="/home/claude/assets/card_tl_b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11292840" cy="777240"/>
          </a:xfrm>
          <a:prstGeom prst="rect">
            <a:avLst/>
          </a:prstGeom>
        </p:spPr>
      </p:pic>
      <p:pic>
        <p:nvPicPr>
          <p:cNvPr id="9" name="Image 3" descr="/home/claude/assets/badge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093976"/>
            <a:ext cx="512064" cy="512064"/>
          </a:xfrm>
          <a:prstGeom prst="rect">
            <a:avLst/>
          </a:prstGeom>
        </p:spPr>
      </p:pic>
      <p:pic>
        <p:nvPicPr>
          <p:cNvPr id="10" name="Image 4" descr="/home/claude/assets/icon_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2221992"/>
            <a:ext cx="256032" cy="25603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417320" y="19659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dictionary-based spellchecker built on Trie / Aho–Corasick indexing for fast lookups over large text datasets.</a:t>
            </a:r>
            <a:endParaRPr lang="en-US" sz="1250" dirty="0"/>
          </a:p>
        </p:txBody>
      </p:sp>
      <p:pic>
        <p:nvPicPr>
          <p:cNvPr id="12" name="Image 5" descr="/home/claude/assets/card_tl_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80360"/>
            <a:ext cx="11292840" cy="777240"/>
          </a:xfrm>
          <a:prstGeom prst="rect">
            <a:avLst/>
          </a:prstGeom>
        </p:spPr>
      </p:pic>
      <p:pic>
        <p:nvPicPr>
          <p:cNvPr id="13" name="Image 6" descr="/home/claude/assets/badge_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008376"/>
            <a:ext cx="512064" cy="512064"/>
          </a:xfrm>
          <a:prstGeom prst="rect">
            <a:avLst/>
          </a:prstGeom>
        </p:spPr>
      </p:pic>
      <p:pic>
        <p:nvPicPr>
          <p:cNvPr id="14" name="Image 7" descr="/home/claude/assets/icon_spellcheck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3136392"/>
            <a:ext cx="256032" cy="256032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417320" y="2880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misspelling detection with ranked correction suggestions using edit-distance and phonetic matching.</a:t>
            </a:r>
            <a:endParaRPr lang="en-US" sz="1250" dirty="0"/>
          </a:p>
        </p:txBody>
      </p:sp>
      <p:pic>
        <p:nvPicPr>
          <p:cNvPr id="16" name="Image 8" descr="/home/claude/assets/card_tl_b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794760"/>
            <a:ext cx="11292840" cy="777240"/>
          </a:xfrm>
          <a:prstGeom prst="rect">
            <a:avLst/>
          </a:prstGeom>
        </p:spPr>
      </p:pic>
      <p:pic>
        <p:nvPicPr>
          <p:cNvPr id="17" name="Image 9" descr="/home/claude/assets/badge_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3922776"/>
            <a:ext cx="512064" cy="512064"/>
          </a:xfrm>
          <a:prstGeom prst="rect">
            <a:avLst/>
          </a:prstGeom>
        </p:spPr>
      </p:pic>
      <p:pic>
        <p:nvPicPr>
          <p:cNvPr id="18" name="Image 10" descr="/home/claude/assets/icon_report_gre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4050792"/>
            <a:ext cx="256032" cy="256032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1417320" y="37947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ready-to-use reports summarizing detected errors and applied corrections.</a:t>
            </a:r>
            <a:endParaRPr lang="en-US" sz="1250" dirty="0"/>
          </a:p>
        </p:txBody>
      </p:sp>
      <p:pic>
        <p:nvPicPr>
          <p:cNvPr id="20" name="Image 11" descr="/home/claude/assets/card_tl_b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709160"/>
            <a:ext cx="11292840" cy="777240"/>
          </a:xfrm>
          <a:prstGeom prst="rect">
            <a:avLst/>
          </a:prstGeom>
        </p:spPr>
      </p:pic>
      <p:pic>
        <p:nvPicPr>
          <p:cNvPr id="21" name="Image 12" descr="/home/claude/assets/badge_circl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4837176"/>
            <a:ext cx="512064" cy="512064"/>
          </a:xfrm>
          <a:prstGeom prst="rect">
            <a:avLst/>
          </a:prstGeom>
        </p:spPr>
      </p:pic>
      <p:pic>
        <p:nvPicPr>
          <p:cNvPr id="22" name="Image 13" descr="/home/claude/assets/icon_gauge_gree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6384" y="4965192"/>
            <a:ext cx="256032" cy="256032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1417320" y="47091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performance gains over naïve scanning, proving the efficiency of dictionary-based string matching.</a:t>
            </a:r>
            <a:endParaRPr lang="en-US" sz="1250" dirty="0"/>
          </a:p>
        </p:txBody>
      </p:sp>
      <p:pic>
        <p:nvPicPr>
          <p:cNvPr id="24" name="Image 14" descr="/home/claude/assets/card_tl_b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623560"/>
            <a:ext cx="11292840" cy="777240"/>
          </a:xfrm>
          <a:prstGeom prst="rect">
            <a:avLst/>
          </a:prstGeom>
        </p:spPr>
      </p:pic>
      <p:pic>
        <p:nvPicPr>
          <p:cNvPr id="25" name="Image 15" descr="/home/claude/assets/badge_circ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368" y="5751576"/>
            <a:ext cx="512064" cy="512064"/>
          </a:xfrm>
          <a:prstGeom prst="rect">
            <a:avLst/>
          </a:prstGeom>
        </p:spPr>
      </p:pic>
      <p:pic>
        <p:nvPicPr>
          <p:cNvPr id="26" name="Image 16" descr="/home/claude/assets/icon_globe_green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6384" y="5879592"/>
            <a:ext cx="256032" cy="256032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1417320" y="56235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2F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Unicode and multilingual dictionary support, enabling use in real-world text analytics and NLP pipelines.</a:t>
            </a:r>
            <a:endParaRPr lang="en-US" sz="1250" dirty="0"/>
          </a:p>
        </p:txBody>
      </p:sp>
      <p:sp>
        <p:nvSpPr>
          <p:cNvPr id="28" name="Text 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DSA-3  |  DICTIONARY-BASED MISSPELLED WORD DETECTION SYSTEM</a:t>
            </a:r>
            <a:endParaRPr lang="en-US" sz="900" dirty="0"/>
          </a:p>
        </p:txBody>
      </p:sp>
      <p:sp>
        <p:nvSpPr>
          <p:cNvPr id="29" name="Text 1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g_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assets/illus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-1097280"/>
            <a:ext cx="3840480" cy="3840480"/>
          </a:xfrm>
          <a:prstGeom prst="rect">
            <a:avLst/>
          </a:prstGeom>
        </p:spPr>
      </p:pic>
      <p:pic>
        <p:nvPicPr>
          <p:cNvPr id="4" name="Image 2" descr="/home/claude/assets/illus_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3291840"/>
            <a:ext cx="3931920" cy="31089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300" kern="0" dirty="0">
                <a:solidFill>
                  <a:srgbClr val="F2F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1"/>
          <p:cNvSpPr/>
          <p:nvPr/>
        </p:nvSpPr>
        <p:spPr>
          <a:xfrm>
            <a:off x="0" y="3794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3AF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16  ·  DSA-3  ·  Dictionary-Based Misspelled Word Detection System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0" y="4251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Hansika Reddy Gunapati · Teja Hasini Reddy · Anthony Nissy   |   Guide: Dr. S. Madhavi   |   Section 7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2026-08-20T03:33:37Z</dcterms:created>
  <dcterms:modified xsi:type="dcterms:W3CDTF">2026-08-20T03:33:37Z</dcterms:modified>
</cp:coreProperties>
</file>